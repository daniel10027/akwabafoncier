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Millions d'utilisateurs (CI, 2025)</c:v>
                </c:pt>
              </c:strCache>
            </c:strRef>
          </c:tx>
          <c:spPr>
            <a:solidFill>
              <a:srgbClr val="F77F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Abonnés mobile</c:v>
                </c:pt>
                <c:pt idx="1">
                  <c:v>Internet mobile</c:v>
                </c:pt>
                <c:pt idx="2">
                  <c:v>Comptes Mobile Money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60.5</c:v>
                </c:pt>
                <c:pt idx="1">
                  <c:v>25.1</c:v>
                </c:pt>
                <c:pt idx="2">
                  <c:v>27.7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1D9"/>
            </a:solidFill>
          </a:ln>
        </c:spPr>
        <c:txPr>
          <a:bodyPr/>
          <a:lstStyle/>
          <a:p>
            <a:pPr>
              <a:defRPr sz="1100">
                <a:solidFill>
                  <a:srgbClr val="1B1D1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</c:v>
                </c:pt>
              </c:strCache>
            </c:strRef>
          </c:tx>
          <c:dPt>
            <c:idx val="0"/>
            <c:spPr>
              <a:solidFill>
                <a:srgbClr val="F77F00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9B55"/>
              </a:solidFill>
              <a:ln w="2540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D96300"/>
              </a:solidFill>
              <a:ln w="25400"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Finaliser le produit</c:v>
                </c:pt>
                <c:pt idx="1">
                  <c:v>Ancrer la confiance</c:v>
                </c:pt>
                <c:pt idx="2">
                  <c:v>Accélérer l'adoption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30</c:v>
                </c:pt>
                <c:pt idx="2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09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C2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182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777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F77F00"/>
                </a:solidFill>
                <a:latin typeface="Calibri"/>
              </a:rPr>
              <a:t>MOOV STARTUP CHALLENGE 2026 · DOSSIER DE CANDIDATURE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libri"/>
              </a:rPr>
              <a:t>Akwaba</a:t>
            </a:r>
            <a:r>
              <a:rPr sz="6200" b="1" i="0">
                <a:solidFill>
                  <a:srgbClr val="F77F00"/>
                </a:solidFill>
                <a:latin typeface="Calibri"/>
              </a:rPr>
              <a:t>Foncier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E9ECE7"/>
                </a:solidFill>
                <a:latin typeface="Calibri"/>
              </a:rPr>
              <a:t>La vérité foncière, en un clic.</a:t>
            </a:r>
          </a:p>
          <a:p>
            <a:pPr>
              <a:spcBef>
                <a:spcPts val="800"/>
              </a:spcBef>
            </a:pPr>
            <a:r>
              <a:rPr sz="1500" b="0" i="0">
                <a:solidFill>
                  <a:srgbClr val="B8C2BC"/>
                </a:solidFill>
                <a:latin typeface="Calibri"/>
              </a:rPr>
              <a:t>La plateforme nationale qui sécurise, cartographie et rend enfin transparente la propriété foncière en Côte d'Ivoire.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4617720"/>
            <a:ext cx="1920240" cy="2540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Diyoro Bi Prince</a:t>
            </a:r>
          </a:p>
          <a:p>
            <a:r>
              <a:rPr sz="1250" b="0" i="0">
                <a:solidFill>
                  <a:srgbClr val="B8C2BC"/>
                </a:solidFill>
                <a:latin typeface="Calibri"/>
              </a:rPr>
              <a:t>Fondateur &amp; Développeur — Informaticien ivoirien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989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B8C2BC"/>
                </a:solidFill>
                <a:latin typeface="Calibri"/>
              </a:rPr>
              <a:t>akwabafoncier.ci  ·  Candidature Octobre 2026</a:t>
            </a:r>
          </a:p>
        </p:txBody>
      </p:sp>
    </p:spTree>
  </p:cSld>
  <p:transition spd="slow" dur="1000">
    <p:fade thruBlk="0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80">
                <a:solidFill>
                  <a:srgbClr val="F77F00"/>
                </a:solidFill>
                <a:latin typeface="Calibri"/>
              </a:rPr>
              <a:t>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1D1B"/>
                </a:solidFill>
                <a:latin typeface="Calibri"/>
              </a:rPr>
              <a:t>En Côte d'Ivoire, acheter un terrain reste un pari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2542032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6060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AD9C5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83280"/>
            <a:ext cx="20848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B1D1B"/>
                </a:solidFill>
                <a:latin typeface="Calibri"/>
              </a:rPr>
              <a:t>Ventes multiples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77640"/>
            <a:ext cx="208483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726C"/>
                </a:solidFill>
                <a:latin typeface="Calibri"/>
              </a:rPr>
              <a:t>Un même terrain est vendu à plusieurs acquéreurs faute de registre fiable et consultable.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200400"/>
            <a:ext cx="457200" cy="3175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9584" y="2331720"/>
            <a:ext cx="2542032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8184" y="26060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AD9C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4" y="3383280"/>
            <a:ext cx="20848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B1D1B"/>
                </a:solidFill>
                <a:latin typeface="Calibri"/>
              </a:rPr>
              <a:t>Documents falsifiés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3977640"/>
            <a:ext cx="208483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726C"/>
                </a:solidFill>
                <a:latin typeface="Calibri"/>
              </a:rPr>
              <a:t>Faux ACD, faux titres fonciers : la fraude documentaire prospère dans l'opacité actuelle.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8184" y="3200400"/>
            <a:ext cx="457200" cy="3175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36208" y="2331720"/>
            <a:ext cx="2542032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26060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AD9C5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383280"/>
            <a:ext cx="20848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B1D1B"/>
                </a:solidFill>
                <a:latin typeface="Calibri"/>
              </a:rPr>
              <a:t>Aucune vérification simple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977640"/>
            <a:ext cx="208483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726C"/>
                </a:solidFill>
                <a:latin typeface="Calibri"/>
              </a:rPr>
              <a:t>Aucune base nationale accessible ne permet de vérifier un terrain avant d'y engager ses économies.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64808" y="3200400"/>
            <a:ext cx="457200" cy="3175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42832" y="2331720"/>
            <a:ext cx="2542032" cy="3383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26060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AD9C5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3383280"/>
            <a:ext cx="20848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B1D1B"/>
                </a:solidFill>
                <a:latin typeface="Calibri"/>
              </a:rPr>
              <a:t>Démarches sans suivi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3977640"/>
            <a:ext cx="208483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726C"/>
                </a:solidFill>
                <a:latin typeface="Calibri"/>
              </a:rPr>
              <a:t>Procédures administratives lentes et opaques, sans traçabilité pour le citoyen.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71432" y="3200400"/>
            <a:ext cx="457200" cy="3175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6E726C"/>
                </a:solidFill>
                <a:latin typeface="Calibri"/>
              </a:rPr>
              <a:t>AKWABAFONCIER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E726C"/>
                </a:solidFill>
                <a:latin typeface="Calibri"/>
              </a:rPr>
              <a:t>02</a:t>
            </a:r>
          </a:p>
        </p:txBody>
      </p:sp>
    </p:spTree>
  </p:cSld>
  <p:transition spd="slow" dur="1000">
    <p:fade thruBlk="0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80">
                <a:solidFill>
                  <a:srgbClr val="F77F00"/>
                </a:solidFill>
                <a:latin typeface="Calibri"/>
              </a:rPr>
              <a:t>LE COÛT DU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L'insécurité foncière freine tout un pays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1B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42316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77F00"/>
                </a:solidFill>
                <a:latin typeface="Calibri"/>
              </a:rPr>
              <a:t>N°1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441448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cause de tensions communautaires en Côte d'Ivoire — devant les conflits liés aux ressources naturelles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363931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60">
                <a:solidFill>
                  <a:srgbClr val="B8C2BC"/>
                </a:solidFill>
                <a:latin typeface="Calibri"/>
              </a:rPr>
              <a:t>LAND PORTAL / HUB RURAL, 2020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40280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1B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42316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77F00"/>
                </a:solidFill>
                <a:latin typeface="Calibri"/>
              </a:rPr>
              <a:t>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441448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de l'activité économique nationale concentrée dans le Grand Abidjan, où la pression foncière est maximale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63931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60">
                <a:solidFill>
                  <a:srgbClr val="B8C2BC"/>
                </a:solidFill>
                <a:latin typeface="Calibri"/>
              </a:rPr>
              <a:t>ANALYSE MARCHÉ IMMOBILIER CI,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79392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1B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462272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77F00"/>
                </a:solidFill>
                <a:latin typeface="Calibri"/>
              </a:rPr>
              <a:t>+18%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480560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de hausse de la valeur des permis de construire délivrés dans le Grand Abidjan en 2025 — un marché en forte accélération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567842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60">
                <a:solidFill>
                  <a:srgbClr val="B8C2BC"/>
                </a:solidFill>
                <a:latin typeface="Calibri"/>
              </a:rPr>
              <a:t>MINISTÈRE DE LA CONSTRUCTION ET DE L'URBANISME,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279392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1B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462272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77F00"/>
                </a:solidFill>
                <a:latin typeface="Calibri"/>
              </a:rPr>
              <a:t>x2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480560"/>
            <a:ext cx="31089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population urbaine ivoirienne appelée à doubler d'ici 2050, sans registre foncier numérique pour absorber la pression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67842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60">
                <a:solidFill>
                  <a:srgbClr val="B8C2BC"/>
                </a:solidFill>
                <a:latin typeface="Calibri"/>
              </a:rPr>
              <a:t>BANQUE MONDIALE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B8C2BC"/>
                </a:solidFill>
                <a:latin typeface="Calibri"/>
              </a:rPr>
              <a:t>AKWABAFONCIER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B8C2BC"/>
                </a:solidFill>
                <a:latin typeface="Calibri"/>
              </a:rPr>
              <a:t>03</a:t>
            </a:r>
          </a:p>
        </p:txBody>
      </p:sp>
    </p:spTree>
  </p:cSld>
  <p:transition spd="slow" dur="1000">
    <p:fade thruBlk="0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80">
                <a:solidFill>
                  <a:srgbClr val="F77F00"/>
                </a:solidFill>
                <a:latin typeface="Calibri"/>
              </a:rPr>
              <a:t>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D1B"/>
                </a:solidFill>
                <a:latin typeface="Calibri"/>
              </a:rPr>
              <a:t>AkwabaFoncier : la vérité foncière, </a:t>
            </a:r>
            <a:r>
              <a:rPr sz="3000" b="1" i="0">
                <a:solidFill>
                  <a:srgbClr val="F77F00"/>
                </a:solidFill>
                <a:latin typeface="Calibri"/>
              </a:rPr>
              <a:t>en un clic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E726C"/>
                </a:solidFill>
                <a:latin typeface="Calibri"/>
              </a:rPr>
              <a:t>Une plateforme nationale qui centralise, cartographie et sécurise l'information foncière — pour les citoyens, les professionnels et l'État.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57860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1D1B"/>
                </a:solidFill>
                <a:latin typeface="Calibri"/>
              </a:rPr>
              <a:t>Cartographie SIG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54203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6E726C"/>
                </a:solidFill>
                <a:latin typeface="Calibri"/>
              </a:rPr>
              <a:t>Carte interactive nationale : statut juridique de chaque parcelle, en temps réel, sur fond satellite ou topographique.</a:t>
            </a:r>
          </a:p>
        </p:txBody>
      </p:sp>
      <p:sp>
        <p:nvSpPr>
          <p:cNvPr id="10" name="Oval 9"/>
          <p:cNvSpPr/>
          <p:nvPr/>
        </p:nvSpPr>
        <p:spPr>
          <a:xfrm>
            <a:off x="3529584" y="2468880"/>
            <a:ext cx="566928" cy="566928"/>
          </a:xfrm>
          <a:prstGeom prst="ellipse">
            <a:avLst/>
          </a:prstGeom>
          <a:solidFill>
            <a:srgbClr val="009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257860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3246120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1D1B"/>
                </a:solidFill>
                <a:latin typeface="Calibri"/>
              </a:rPr>
              <a:t>Vérification instantanée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3749040"/>
            <a:ext cx="254203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6E726C"/>
                </a:solidFill>
                <a:latin typeface="Calibri"/>
              </a:rPr>
              <a:t>Avant tout achat : historique complet, alertes actives, documents associés à une parcelle.</a:t>
            </a:r>
          </a:p>
        </p:txBody>
      </p:sp>
      <p:sp>
        <p:nvSpPr>
          <p:cNvPr id="14" name="Oval 13"/>
          <p:cNvSpPr/>
          <p:nvPr/>
        </p:nvSpPr>
        <p:spPr>
          <a:xfrm>
            <a:off x="6236208" y="2468880"/>
            <a:ext cx="566928" cy="566928"/>
          </a:xfrm>
          <a:prstGeom prst="ellipse">
            <a:avLst/>
          </a:prstGeom>
          <a:solidFill>
            <a:srgbClr val="D9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57860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3246120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1D1B"/>
                </a:solidFill>
                <a:latin typeface="Calibri"/>
              </a:rPr>
              <a:t>Démarches en ligne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3749040"/>
            <a:ext cx="254203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6E726C"/>
                </a:solidFill>
                <a:latin typeface="Calibri"/>
              </a:rPr>
              <a:t>ACD, titre foncier, morcellement : dépôt et suivi de dossier en temps réel, sans se déplacer.</a:t>
            </a:r>
          </a:p>
        </p:txBody>
      </p:sp>
      <p:sp>
        <p:nvSpPr>
          <p:cNvPr id="18" name="Oval 17"/>
          <p:cNvSpPr/>
          <p:nvPr/>
        </p:nvSpPr>
        <p:spPr>
          <a:xfrm>
            <a:off x="8942832" y="2468880"/>
            <a:ext cx="566928" cy="566928"/>
          </a:xfrm>
          <a:prstGeom prst="ellipse">
            <a:avLst/>
          </a:prstGeom>
          <a:solidFill>
            <a:srgbClr val="00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257860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246120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1D1B"/>
                </a:solidFill>
                <a:latin typeface="Calibri"/>
              </a:rPr>
              <a:t>Alertes &amp; traçabilité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3749040"/>
            <a:ext cx="254203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6E726C"/>
                </a:solidFill>
                <a:latin typeface="Calibri"/>
              </a:rPr>
              <a:t>Notifications automatiques en cas de litige, revente suspecte ou anomalie sur une parcelle suivie.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6E726C"/>
                </a:solidFill>
                <a:latin typeface="Calibri"/>
              </a:rPr>
              <a:t>AKWABAFONCIER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E726C"/>
                </a:solidFill>
                <a:latin typeface="Calibri"/>
              </a:rPr>
              <a:t>04</a:t>
            </a:r>
          </a:p>
        </p:txBody>
      </p:sp>
    </p:spTree>
  </p:cSld>
  <p:transition spd="slow" dur="1000">
    <p:fade thruBlk="0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80">
                <a:solidFill>
                  <a:srgbClr val="F77F00"/>
                </a:solidFill>
                <a:latin typeface="Calibri"/>
              </a:rPr>
              <a:t>LE PRODUIT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B1D1B"/>
                </a:solidFill>
                <a:latin typeface="Calibri"/>
              </a:rPr>
              <a:t>Un prototype fonctionnel, prêt à être déployé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E726C"/>
                </a:solidFill>
                <a:latin typeface="Calibri"/>
              </a:rPr>
              <a:t>Web + mobile (PWA installable) · SIG cartographique · Back-office administrateur complet · Paiement Mobile Money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1663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5166360" cy="384048"/>
          </a:xfrm>
          <a:prstGeom prst="rect">
            <a:avLst/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2267712"/>
            <a:ext cx="128016" cy="128016"/>
          </a:xfrm>
          <a:prstGeom prst="ellipse">
            <a:avLst/>
          </a:prstGeom>
          <a:solidFill>
            <a:srgbClr val="E0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2267712"/>
            <a:ext cx="128016" cy="128016"/>
          </a:xfrm>
          <a:prstGeom prst="ellipse">
            <a:avLst/>
          </a:prstGeom>
          <a:solidFill>
            <a:srgbClr val="E8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9888" y="2267712"/>
            <a:ext cx="128016" cy="128016"/>
          </a:xfrm>
          <a:prstGeom prst="ellipse">
            <a:avLst/>
          </a:prstGeom>
          <a:solidFill>
            <a:srgbClr val="009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15768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D1B"/>
                </a:solidFill>
                <a:latin typeface="Calibri"/>
              </a:rPr>
              <a:t>Carte interactive SIG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6E726C"/>
                </a:solidFill>
                <a:latin typeface="Calibri"/>
              </a:rPr>
              <a:t>Localisation, statut juridique et filtres par commune sur fond satellite / topo.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48840"/>
            <a:ext cx="51663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148840"/>
            <a:ext cx="5166360" cy="384048"/>
          </a:xfrm>
          <a:prstGeom prst="rect">
            <a:avLst/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267712"/>
            <a:ext cx="128016" cy="128016"/>
          </a:xfrm>
          <a:prstGeom prst="ellipse">
            <a:avLst/>
          </a:prstGeom>
          <a:solidFill>
            <a:srgbClr val="E0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29400" y="2267712"/>
            <a:ext cx="128016" cy="128016"/>
          </a:xfrm>
          <a:prstGeom prst="ellipse">
            <a:avLst/>
          </a:prstGeom>
          <a:solidFill>
            <a:srgbClr val="E8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30568" y="2267712"/>
            <a:ext cx="128016" cy="128016"/>
          </a:xfrm>
          <a:prstGeom prst="ellipse">
            <a:avLst/>
          </a:prstGeom>
          <a:solidFill>
            <a:srgbClr val="009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715768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D1B"/>
                </a:solidFill>
                <a:latin typeface="Calibri"/>
              </a:rPr>
              <a:t>Fiche terrain complète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200400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6E726C"/>
                </a:solidFill>
                <a:latin typeface="Calibri"/>
              </a:rPr>
              <a:t>Historique, documents, alertes et vérification en un clic avant achat.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97680"/>
            <a:ext cx="51663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297680"/>
            <a:ext cx="5166360" cy="384048"/>
          </a:xfrm>
          <a:prstGeom prst="rect">
            <a:avLst/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7552" y="4416552"/>
            <a:ext cx="128016" cy="128016"/>
          </a:xfrm>
          <a:prstGeom prst="ellipse">
            <a:avLst/>
          </a:prstGeom>
          <a:solidFill>
            <a:srgbClr val="E0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88720" y="4416552"/>
            <a:ext cx="128016" cy="128016"/>
          </a:xfrm>
          <a:prstGeom prst="ellipse">
            <a:avLst/>
          </a:prstGeom>
          <a:solidFill>
            <a:srgbClr val="E8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89888" y="4416552"/>
            <a:ext cx="128016" cy="128016"/>
          </a:xfrm>
          <a:prstGeom prst="ellipse">
            <a:avLst/>
          </a:prstGeom>
          <a:solidFill>
            <a:srgbClr val="009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864608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D1B"/>
                </a:solidFill>
                <a:latin typeface="Calibri"/>
              </a:rPr>
              <a:t>Tableau de bord citoyen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349240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6E726C"/>
                </a:solidFill>
                <a:latin typeface="Calibri"/>
              </a:rPr>
              <a:t>Suivi des demandes, réclamations et notifications en temps réel.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297680"/>
            <a:ext cx="51663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297680"/>
            <a:ext cx="5166360" cy="384048"/>
          </a:xfrm>
          <a:prstGeom prst="rect">
            <a:avLst/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28232" y="4416552"/>
            <a:ext cx="128016" cy="128016"/>
          </a:xfrm>
          <a:prstGeom prst="ellipse">
            <a:avLst/>
          </a:prstGeom>
          <a:solidFill>
            <a:srgbClr val="E0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29400" y="4416552"/>
            <a:ext cx="128016" cy="128016"/>
          </a:xfrm>
          <a:prstGeom prst="ellipse">
            <a:avLst/>
          </a:prstGeom>
          <a:solidFill>
            <a:srgbClr val="E8B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30568" y="4416552"/>
            <a:ext cx="128016" cy="128016"/>
          </a:xfrm>
          <a:prstGeom prst="ellipse">
            <a:avLst/>
          </a:prstGeom>
          <a:solidFill>
            <a:srgbClr val="009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864608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D1B"/>
                </a:solidFill>
                <a:latin typeface="Calibri"/>
              </a:rPr>
              <a:t>Back-office administrateur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349240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6E726C"/>
                </a:solidFill>
                <a:latin typeface="Calibri"/>
              </a:rPr>
              <a:t>Gestion des terrains, demandes, réclamations, alertes et statistiques.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6E726C"/>
                </a:solidFill>
                <a:latin typeface="Calibri"/>
              </a:rPr>
              <a:t>AKWABAFONCIER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7395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E726C"/>
                </a:solidFill>
                <a:latin typeface="Calibri"/>
              </a:rPr>
              <a:t>05</a:t>
            </a:r>
          </a:p>
        </p:txBody>
      </p:sp>
    </p:spTree>
  </p:cSld>
  <p:transition spd="slow" dur="1000">
    <p:fade thruBlk="0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80">
                <a:solidFill>
                  <a:srgbClr val="F77F00"/>
                </a:solidFill>
                <a:latin typeface="Calibri"/>
              </a:rPr>
              <a:t>PARCOURS UTILISATEUR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 la recherche à la tranquillité d'esprit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743200"/>
            <a:ext cx="685800" cy="685800"/>
          </a:xfrm>
          <a:prstGeom prst="ellipse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16352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3054096"/>
            <a:ext cx="1874520" cy="25400"/>
          </a:xfrm>
          <a:prstGeom prst="rect">
            <a:avLst/>
          </a:prstGeom>
          <a:solidFill>
            <a:srgbClr val="3A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Rechercher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B8C2BC"/>
                </a:solidFill>
                <a:latin typeface="Calibri"/>
              </a:rPr>
              <a:t>une parcelle sur la carte interactive ou par référence cadastrale.</a:t>
            </a:r>
          </a:p>
        </p:txBody>
      </p:sp>
      <p:sp>
        <p:nvSpPr>
          <p:cNvPr id="10" name="Oval 9"/>
          <p:cNvSpPr/>
          <p:nvPr/>
        </p:nvSpPr>
        <p:spPr>
          <a:xfrm>
            <a:off x="3520440" y="2743200"/>
            <a:ext cx="685800" cy="685800"/>
          </a:xfrm>
          <a:prstGeom prst="ellipse">
            <a:avLst/>
          </a:prstGeom>
          <a:solidFill>
            <a:srgbClr val="009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816352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3054096"/>
            <a:ext cx="1874520" cy="25400"/>
          </a:xfrm>
          <a:prstGeom prst="rect">
            <a:avLst/>
          </a:prstGeom>
          <a:solidFill>
            <a:srgbClr val="3A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365760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Vérifier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16052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B8C2BC"/>
                </a:solidFill>
                <a:latin typeface="Calibri"/>
              </a:rPr>
              <a:t>son statut juridique, son historique et les alertes actives, instantanément.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743200"/>
            <a:ext cx="685800" cy="685800"/>
          </a:xfrm>
          <a:prstGeom prst="ellipse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816352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3054096"/>
            <a:ext cx="1874520" cy="25400"/>
          </a:xfrm>
          <a:prstGeom prst="rect">
            <a:avLst/>
          </a:prstGeom>
          <a:solidFill>
            <a:srgbClr val="3A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65760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Agir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6052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B8C2BC"/>
                </a:solidFill>
                <a:latin typeface="Calibri"/>
              </a:rPr>
              <a:t>déposer une demande (ACD, TF, morcellement) ou une réclamation en ligne.</a:t>
            </a:r>
          </a:p>
        </p:txBody>
      </p:sp>
      <p:sp>
        <p:nvSpPr>
          <p:cNvPr id="20" name="Oval 19"/>
          <p:cNvSpPr/>
          <p:nvPr/>
        </p:nvSpPr>
        <p:spPr>
          <a:xfrm>
            <a:off x="8915400" y="2743200"/>
            <a:ext cx="685800" cy="685800"/>
          </a:xfrm>
          <a:prstGeom prst="ellipse">
            <a:avLst/>
          </a:prstGeom>
          <a:solidFill>
            <a:srgbClr val="009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816352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65760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Suivre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16052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B8C2BC"/>
                </a:solidFill>
                <a:latin typeface="Calibri"/>
              </a:rPr>
              <a:t>l'avancement de son dossier en temps réel, avec notifications automatiques.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B8C2BC"/>
                </a:solidFill>
                <a:latin typeface="Calibri"/>
              </a:rPr>
              <a:t>AKWABAFONCIER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B8C2BC"/>
                </a:solidFill>
                <a:latin typeface="Calibri"/>
              </a:rPr>
              <a:t>06</a:t>
            </a:r>
          </a:p>
        </p:txBody>
      </p:sp>
    </p:spTree>
  </p:cSld>
  <p:transition spd="slow" dur="1000">
    <p:fade thruBlk="0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80">
                <a:solidFill>
                  <a:srgbClr val="F77F00"/>
                </a:solidFill>
                <a:latin typeface="Calibri"/>
              </a:rPr>
              <a:t>MARCHÉ &amp; OPPORTUNITÉ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B1D1B"/>
                </a:solidFill>
                <a:latin typeface="Calibri"/>
              </a:rPr>
              <a:t>Un marché massif, encore non digitalisé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92024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7091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E726C"/>
                </a:solidFill>
                <a:latin typeface="Calibri"/>
              </a:rPr>
              <a:t>ARTCI, T1 2025 — pénétration internet mobile : 89,7 %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74519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6B3A"/>
                </a:solidFill>
                <a:latin typeface="Calibri"/>
              </a:rPr>
              <a:t>≈30M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47087"/>
            <a:ext cx="37490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E726C"/>
                </a:solidFill>
                <a:latin typeface="Calibri"/>
              </a:rPr>
              <a:t>d'habitants en Côte d'Ivoire, avec Abidjan concentrant 20% de la population et 80% de l'activité économique.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834639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6B3A"/>
                </a:solidFill>
                <a:latin typeface="Calibri"/>
              </a:rPr>
              <a:t>+5 à 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807207"/>
            <a:ext cx="37490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E726C"/>
                </a:solidFill>
                <a:latin typeface="Calibri"/>
              </a:rPr>
              <a:t>de hausse des prix résidentiels 2020-2025 selon les quartiers — un marché en forte tension foncière.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794759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6B3A"/>
                </a:solidFill>
                <a:latin typeface="Calibri"/>
              </a:rPr>
              <a:t>8 pays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767327"/>
            <a:ext cx="37490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E726C"/>
                </a:solidFill>
                <a:latin typeface="Calibri"/>
              </a:rPr>
              <a:t>à défis fonciers comparables en zone UEMOA/CEDEAO — un modèle réplicable dans toute la sous-région.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6E726C"/>
                </a:solidFill>
                <a:latin typeface="Calibri"/>
              </a:rPr>
              <a:t>AKWABAFONCIER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E726C"/>
                </a:solidFill>
                <a:latin typeface="Calibri"/>
              </a:rPr>
              <a:t>07</a:t>
            </a:r>
          </a:p>
        </p:txBody>
      </p:sp>
    </p:spTree>
  </p:cSld>
  <p:transition spd="slow" dur="1000">
    <p:fade thruBlk="0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80">
                <a:solidFill>
                  <a:srgbClr val="F77F00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B1D1B"/>
                </a:solidFill>
                <a:latin typeface="Calibri"/>
              </a:rPr>
              <a:t>Un modèle de revenus diversifié et durable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82296" cy="182880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1D1B"/>
                </a:solidFill>
                <a:latin typeface="Calibri"/>
              </a:rPr>
              <a:t>B2C Freemium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98648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6E726C"/>
                </a:solidFill>
                <a:latin typeface="Calibri"/>
              </a:rPr>
              <a:t>Vérification de base gratuite pour tout citoyen. Abonnement Pro (historique complet, multi-terrains, alertes avancées) dès 2 000 FCFA/mois.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148840"/>
            <a:ext cx="82296" cy="1828800"/>
          </a:xfrm>
          <a:prstGeom prst="rect">
            <a:avLst/>
          </a:prstGeom>
          <a:solidFill>
            <a:srgbClr val="009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1D1B"/>
                </a:solidFill>
                <a:latin typeface="Calibri"/>
              </a:rPr>
              <a:t>B2B via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98648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6E726C"/>
                </a:solidFill>
                <a:latin typeface="Calibri"/>
              </a:rPr>
              <a:t>Banques, notaires, agences immobilières et assureurs : due diligence foncière instantanée, facturée à l'usage ou par abonnement entreprise.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78808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178808"/>
            <a:ext cx="82296" cy="1828800"/>
          </a:xfrm>
          <a:prstGeom prst="rect">
            <a:avLst/>
          </a:prstGeom>
          <a:solidFill>
            <a:srgbClr val="D9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407408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1D1B"/>
                </a:solidFill>
                <a:latin typeface="Calibri"/>
              </a:rPr>
              <a:t>Partenariats institutionnels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928616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6E726C"/>
                </a:solidFill>
                <a:latin typeface="Calibri"/>
              </a:rPr>
              <a:t>Conventions avec Mairies, ANAF, BNETD et collectivités pour l'intégration de données officielles et la digitalisation des démarches.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78808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78808"/>
            <a:ext cx="82296" cy="1828800"/>
          </a:xfrm>
          <a:prstGeom prst="rect">
            <a:avLst/>
          </a:prstGeom>
          <a:solidFill>
            <a:srgbClr val="00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407408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B1D1B"/>
                </a:solidFill>
                <a:latin typeface="Calibri"/>
              </a:rPr>
              <a:t>Frais de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928616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80" b="0" i="0">
                <a:solidFill>
                  <a:srgbClr val="6E726C"/>
                </a:solidFill>
                <a:latin typeface="Calibri"/>
              </a:rPr>
              <a:t>Commission sur les démarches administratives digitalisées (ACD, TF, morcellement) traitées via la plateforme.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6E726C"/>
                </a:solidFill>
                <a:latin typeface="Calibri"/>
              </a:rPr>
              <a:t>AKWABAFONCIER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E726C"/>
                </a:solidFill>
                <a:latin typeface="Calibri"/>
              </a:rPr>
              <a:t>08</a:t>
            </a:r>
          </a:p>
        </p:txBody>
      </p:sp>
    </p:spTree>
  </p:cSld>
  <p:transition spd="slow" dur="1000">
    <p:fade thruBlk="0"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80">
                <a:solidFill>
                  <a:srgbClr val="F77F00"/>
                </a:solidFill>
                <a:latin typeface="Calibri"/>
              </a:rPr>
              <a:t>TRACTION &amp; FEUILLE DE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D'un prototype solide à la référence nationale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77F00"/>
                </a:solidFill>
                <a:latin typeface="Calibri"/>
              </a:rPr>
              <a:t>Aujourd'hui :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prototype complet et fonctionnel — carte SIG, back-office, demandes en ligne, paiement Mobile Money.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788920"/>
            <a:ext cx="9784080" cy="25400"/>
          </a:xfrm>
          <a:prstGeom prst="rect">
            <a:avLst/>
          </a:prstGeom>
          <a:solidFill>
            <a:srgbClr val="3A4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06040"/>
            <a:ext cx="384048" cy="384048"/>
          </a:xfrm>
          <a:prstGeom prst="ellipse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80">
                <a:solidFill>
                  <a:srgbClr val="F77F00"/>
                </a:solidFill>
                <a:latin typeface="Calibri"/>
              </a:rPr>
              <a:t>T4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Lancement pilote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222199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B8C2BC"/>
                </a:solidFill>
                <a:latin typeface="Calibri"/>
              </a:rPr>
              <a:t>1 à 2 communes partenaires, premiers notaires connectés à la plateforme.</a:t>
            </a:r>
          </a:p>
        </p:txBody>
      </p:sp>
      <p:sp>
        <p:nvSpPr>
          <p:cNvPr id="11" name="Oval 10"/>
          <p:cNvSpPr/>
          <p:nvPr/>
        </p:nvSpPr>
        <p:spPr>
          <a:xfrm>
            <a:off x="3410712" y="2606040"/>
            <a:ext cx="384048" cy="384048"/>
          </a:xfrm>
          <a:prstGeom prst="ellipse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3246120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80">
                <a:solidFill>
                  <a:srgbClr val="F77F00"/>
                </a:solidFill>
                <a:latin typeface="Calibri"/>
              </a:rPr>
              <a:t>S1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361188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Acquisition &amp; B2B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4114800"/>
            <a:ext cx="222199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B8C2BC"/>
                </a:solidFill>
                <a:latin typeface="Calibri"/>
              </a:rPr>
              <a:t>Croissance citoyenne, premiers contrats banques et assurances via l'API.</a:t>
            </a:r>
          </a:p>
        </p:txBody>
      </p:sp>
      <p:sp>
        <p:nvSpPr>
          <p:cNvPr id="15" name="Oval 14"/>
          <p:cNvSpPr/>
          <p:nvPr/>
        </p:nvSpPr>
        <p:spPr>
          <a:xfrm>
            <a:off x="5861304" y="2606040"/>
            <a:ext cx="384048" cy="384048"/>
          </a:xfrm>
          <a:prstGeom prst="ellipse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4144" y="3246120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80">
                <a:solidFill>
                  <a:srgbClr val="F77F00"/>
                </a:solidFill>
                <a:latin typeface="Calibri"/>
              </a:rPr>
              <a:t>S2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24144" y="361188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Ancrage institutionnel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4144" y="4114800"/>
            <a:ext cx="222199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B8C2BC"/>
                </a:solidFill>
                <a:latin typeface="Calibri"/>
              </a:rPr>
              <a:t>Convention avec l'État (ANAF / BNETD), couverture progressive nationale.</a:t>
            </a:r>
          </a:p>
        </p:txBody>
      </p:sp>
      <p:sp>
        <p:nvSpPr>
          <p:cNvPr id="19" name="Oval 18"/>
          <p:cNvSpPr/>
          <p:nvPr/>
        </p:nvSpPr>
        <p:spPr>
          <a:xfrm>
            <a:off x="8311896" y="2606040"/>
            <a:ext cx="384048" cy="384048"/>
          </a:xfrm>
          <a:prstGeom prst="ellipse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3246120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80">
                <a:solidFill>
                  <a:srgbClr val="F77F00"/>
                </a:solidFill>
                <a:latin typeface="Calibri"/>
              </a:rPr>
              <a:t>2028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3611880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Expansion régionale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4114800"/>
            <a:ext cx="222199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B8C2BC"/>
                </a:solidFill>
                <a:latin typeface="Calibri"/>
              </a:rPr>
              <a:t>Réplication du modèle dans un premier pays de l'UEMOA.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B8C2BC"/>
                </a:solidFill>
                <a:latin typeface="Calibri"/>
              </a:rPr>
              <a:t>AKWABAFONCIER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B8C2BC"/>
                </a:solidFill>
                <a:latin typeface="Calibri"/>
              </a:rPr>
              <a:t>09</a:t>
            </a:r>
          </a:p>
        </p:txBody>
      </p:sp>
    </p:spTree>
  </p:cSld>
  <p:transition spd="slow" dur="1000">
    <p:fade thruBlk="0"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80">
                <a:solidFill>
                  <a:srgbClr val="F77F00"/>
                </a:solidFill>
                <a:latin typeface="Calibri"/>
              </a:rPr>
              <a:t>AVANTAGE CONCURRENTIEL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D1B"/>
                </a:solidFill>
                <a:latin typeface="Calibri"/>
              </a:rPr>
              <a:t>Pourquoi maintenant, pourquoi AkwabaFoncier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542032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423160"/>
            <a:ext cx="457200" cy="457200"/>
          </a:xfrm>
          <a:prstGeom prst="ellipse">
            <a:avLst/>
          </a:prstGeom>
          <a:solidFill>
            <a:srgbClr val="009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108960"/>
            <a:ext cx="20848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D1B"/>
                </a:solidFill>
                <a:latin typeface="Calibri"/>
              </a:rPr>
              <a:t>Premier arrivé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40480"/>
            <a:ext cx="208483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726C"/>
                </a:solidFill>
                <a:latin typeface="Calibri"/>
              </a:rPr>
              <a:t>Aucun acteur ne centralise aujourd'hui la donnée foncière ivoirienne de façon publique, cartographiée et vérifiable.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9584" y="2148840"/>
            <a:ext cx="2542032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85616" y="2423160"/>
            <a:ext cx="457200" cy="457200"/>
          </a:xfrm>
          <a:prstGeom prst="ellipse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8184" y="3108960"/>
            <a:ext cx="20848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D1B"/>
                </a:solidFill>
                <a:latin typeface="Calibri"/>
              </a:rPr>
              <a:t>Mobile-first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4" y="3840480"/>
            <a:ext cx="208483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726C"/>
                </a:solidFill>
                <a:latin typeface="Calibri"/>
              </a:rPr>
              <a:t>89,7% de pénétration internet mobile en Côte d'Ivoire : le terrain est prêt pour une solution pensée mobile dès le départ.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148840"/>
            <a:ext cx="2542032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2423160"/>
            <a:ext cx="457200" cy="457200"/>
          </a:xfrm>
          <a:prstGeom prst="ellipse">
            <a:avLst/>
          </a:prstGeom>
          <a:solidFill>
            <a:srgbClr val="009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3108960"/>
            <a:ext cx="20848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D1B"/>
                </a:solidFill>
                <a:latin typeface="Calibri"/>
              </a:rPr>
              <a:t>Effet de réseau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3840480"/>
            <a:ext cx="208483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726C"/>
                </a:solidFill>
                <a:latin typeface="Calibri"/>
              </a:rPr>
              <a:t>Plus de terrains référencés = plus de valeur pour chaque utilisateur : un fossé de données qui se creuse avec le temps.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2832" y="2148840"/>
            <a:ext cx="2542032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98864" y="2423160"/>
            <a:ext cx="457200" cy="457200"/>
          </a:xfrm>
          <a:prstGeom prst="ellipse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3108960"/>
            <a:ext cx="20848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D1B"/>
                </a:solidFill>
                <a:latin typeface="Calibri"/>
              </a:rPr>
              <a:t>Tiers de confiance neutre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3840480"/>
            <a:ext cx="208483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E726C"/>
                </a:solidFill>
                <a:latin typeface="Calibri"/>
              </a:rPr>
              <a:t>Positionné en partenaire technique de l'État, pas en concurrent — vocation naturelle à s'intégrer au cadastre national.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6E726C"/>
                </a:solidFill>
                <a:latin typeface="Calibri"/>
              </a:rPr>
              <a:t>AKWABAFONCIER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E726C"/>
                </a:solidFill>
                <a:latin typeface="Calibri"/>
              </a:rPr>
              <a:t>10</a:t>
            </a:r>
          </a:p>
        </p:txBody>
      </p:sp>
    </p:spTree>
  </p:cSld>
  <p:transition spd="slow" dur="1000">
    <p:fade thruBlk="0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80">
                <a:solidFill>
                  <a:srgbClr val="F77F00"/>
                </a:solidFill>
                <a:latin typeface="Calibri"/>
              </a:rPr>
              <a:t>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Un fondateur qui exécute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48840"/>
            <a:ext cx="1371600" cy="1371600"/>
          </a:xfrm>
          <a:prstGeom prst="ellipse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DBP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19456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Diyoro Bi Prince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633472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77F00"/>
                </a:solidFill>
                <a:latin typeface="Calibri"/>
              </a:rPr>
              <a:t>Fondateur &amp; Développeur — Informaticien ivoirien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06324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8C2BC"/>
                </a:solidFill>
                <a:latin typeface="Calibri"/>
              </a:rPr>
              <a:t>A conçu et développé seul l'intégralité du prototype AkwabaFoncier — cartographie SIG, back-office complet, gestion des demandes, intégration paiement Mobile Money. Une preuve d'exécution technique directe, sans dépendance externe.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343400"/>
            <a:ext cx="10424160" cy="19050"/>
          </a:xfrm>
          <a:prstGeom prst="rect">
            <a:avLst/>
          </a:prstGeom>
          <a:solidFill>
            <a:srgbClr val="33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F77F00"/>
                </a:solidFill>
                <a:latin typeface="Calibri"/>
              </a:rPr>
              <a:t>CE QUE LE FINANCEMENT PERMETTRA DE CONSTRUIRE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Profil juridique &amp; foncier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B8C2BC"/>
                </a:solidFill>
                <a:latin typeface="Calibri"/>
              </a:rPr>
              <a:t>Sécuriser les partenariats institutionnels et la conformité réglementaire.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0749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Profil commercial &amp;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48640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B8C2BC"/>
                </a:solidFill>
                <a:latin typeface="Calibri"/>
              </a:rPr>
              <a:t>Piloter l'acquisition citoyenne et les contrats B2B (banques, notaires, assurances).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B8C2BC"/>
                </a:solidFill>
                <a:latin typeface="Calibri"/>
              </a:rPr>
              <a:t>AKWABAFONCIER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B8C2BC"/>
                </a:solidFill>
                <a:latin typeface="Calibri"/>
              </a:rPr>
              <a:t>11</a:t>
            </a:r>
          </a:p>
        </p:txBody>
      </p:sp>
    </p:spTree>
  </p:cSld>
  <p:transition spd="slow" dur="1000">
    <p:fade thruBlk="0"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80">
                <a:solidFill>
                  <a:srgbClr val="F77F00"/>
                </a:solidFill>
                <a:latin typeface="Calibri"/>
              </a:rPr>
              <a:t>LE FINANCEMENT DEMANDÉ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1D1B"/>
                </a:solidFill>
                <a:latin typeface="Calibri"/>
              </a:rPr>
              <a:t>10 000 000 FCFA pour passer à l'échelle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91640"/>
          <a:ext cx="42062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17320" y="3429000"/>
            <a:ext cx="2651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B1D1B"/>
                </a:solidFill>
                <a:latin typeface="Calibri"/>
              </a:rPr>
              <a:t>10M</a:t>
            </a:r>
          </a:p>
          <a:p>
            <a:pPr algn="ctr"/>
            <a:r>
              <a:rPr sz="1200" b="1" i="0" spc="60">
                <a:solidFill>
                  <a:srgbClr val="6E726C"/>
                </a:solidFill>
                <a:latin typeface="Calibri"/>
              </a:rPr>
              <a:t>FCFA</a:t>
            </a:r>
          </a:p>
        </p:txBody>
      </p:sp>
      <p:sp>
        <p:nvSpPr>
          <p:cNvPr id="7" name="Oval 6"/>
          <p:cNvSpPr/>
          <p:nvPr/>
        </p:nvSpPr>
        <p:spPr>
          <a:xfrm>
            <a:off x="5486400" y="1828800"/>
            <a:ext cx="502920" cy="502920"/>
          </a:xfrm>
          <a:prstGeom prst="ellipse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938528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76479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1D1B"/>
                </a:solidFill>
                <a:latin typeface="Calibri"/>
              </a:rPr>
              <a:t>Finaliser le produit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167128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726C"/>
                </a:solidFill>
                <a:latin typeface="Calibri"/>
              </a:rPr>
              <a:t>Infrastructure cloud sécurisée, acquisition de données cadastrales officielles, finalisation de l'app mobile.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3337560"/>
            <a:ext cx="502920" cy="502920"/>
          </a:xfrm>
          <a:prstGeom prst="ellipse">
            <a:avLst/>
          </a:prstGeom>
          <a:solidFill>
            <a:srgbClr val="009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3447288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27355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1D1B"/>
                </a:solidFill>
                <a:latin typeface="Calibri"/>
              </a:rPr>
              <a:t>Ancrer la confiance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675888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726C"/>
                </a:solidFill>
                <a:latin typeface="Calibri"/>
              </a:rPr>
              <a:t>Partenariats juridiques, conventions avec collectivités et notaires, conformité sur les données personnelles.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0" y="4846320"/>
            <a:ext cx="502920" cy="502920"/>
          </a:xfrm>
          <a:prstGeom prst="ellipse">
            <a:avLst/>
          </a:prstGeom>
          <a:solidFill>
            <a:srgbClr val="D96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4956048"/>
            <a:ext cx="502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78231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1D1B"/>
                </a:solidFill>
                <a:latin typeface="Calibri"/>
              </a:rPr>
              <a:t>Accélérer l'adoption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184648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726C"/>
                </a:solidFill>
                <a:latin typeface="Calibri"/>
              </a:rPr>
              <a:t>Pilote terrain dans 1 à 2 communes, marketing digital, onboarding citoyens et professionnels.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20">
                <a:solidFill>
                  <a:srgbClr val="6E726C"/>
                </a:solidFill>
                <a:latin typeface="Calibri"/>
              </a:rPr>
              <a:t>AKWABAFONCIER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822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E726C"/>
                </a:solidFill>
                <a:latin typeface="Calibri"/>
              </a:rPr>
              <a:t>12</a:t>
            </a:r>
          </a:p>
        </p:txBody>
      </p:sp>
    </p:spTree>
  </p:cSld>
  <p:transition spd="slow" dur="1000">
    <p:fade thruBlk="0"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09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C2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9692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 terre est un patrimoine national.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AkwabaFoncier la rend enfin transparente, sécurisée et accessible à tous —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2600" b="1" i="0">
                <a:solidFill>
                  <a:srgbClr val="F77F00"/>
                </a:solidFill>
                <a:latin typeface="Calibri"/>
              </a:rPr>
              <a:t>en Côte d'Ivoire, puis dans toute la sous-région.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160520"/>
            <a:ext cx="1920240" cy="25400"/>
          </a:xfrm>
          <a:prstGeom prst="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389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Diyoro Bi Prince — Fondateur, AkwabaFoncier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548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B8C2BC"/>
                </a:solidFill>
                <a:latin typeface="Calibri"/>
              </a:rPr>
              <a:t>akwabafoncier.ci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064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77F00"/>
                </a:solidFill>
                <a:latin typeface="Calibri"/>
              </a:rPr>
              <a:t>Merci.</a:t>
            </a:r>
          </a:p>
        </p:txBody>
      </p:sp>
    </p:spTree>
  </p:cSld>
  <p:transition spd="slow" dur="1000">
    <p:fade thruBlk="0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